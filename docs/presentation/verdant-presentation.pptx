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63" r:id="rId14"/>
    <p:sldId id="260" r:id="rId11"/>
    <p:sldId id="264" r:id="rId15"/>
    <p:sldId id="269" r:id="rId20"/>
  </p:sldIdLst>
  <p:sldSz cy="5143500" cx="9144000"/>
  <p:notesSz cx="6858000" cy="9144000"/>
  <p:embeddedFontLst>
    <p:embeddedFont>
      <p:font typeface="Raleway"/>
      <p:regular r:id="rId39"/>
      <p:bold r:id="rId40"/>
      <p:italic r:id="rId41"/>
      <p:boldItalic r:id="rId42"/>
    </p:embeddedFont>
    <p:embeddedFont>
      <p:font typeface="Hanken Grotesk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Inter"/>
      <p:regular r:id="rId48"/>
      <p:bold r:id="rId49"/>
      <p:italic r:id="rId50"/>
      <p:boldItalic r:id="rId51"/>
    </p:embeddedFont>
    <p:embeddedFont>
      <p:font typeface="Roboto Mono"/>
      <p:regular r:id="rId52"/>
      <p:bold r:id="rId53"/>
      <p:italic r:id="rId54"/>
      <p:boldItalic r:id="rId55"/>
    </p:embeddedFont>
    <p:embeddedFont>
      <p:font typeface="Open Sans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35528E-C875-4908-AB80-04C8A26A6AD9}">
  <a:tblStyle styleId="{9535528E-C875-4908-AB80-04C8A26A6A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4" Type="http://schemas.openxmlformats.org/officeDocument/2006/relationships/slide" Target="slides/slide1.xml"/><Relationship Id="rId15" Type="http://schemas.openxmlformats.org/officeDocument/2006/relationships/slide" Target="slides/slide4.xml"/><Relationship Id="rId20" Type="http://schemas.openxmlformats.org/officeDocument/2006/relationships/slide" Target="slides/slide5.xml"/><Relationship Id="rId39" Type="http://schemas.openxmlformats.org/officeDocument/2006/relationships/font" Target="fonts/Raleway-regular.fntdata"/><Relationship Id="rId40" Type="http://schemas.openxmlformats.org/officeDocument/2006/relationships/font" Target="fonts/Raleway-bold.fntdata"/><Relationship Id="rId41" Type="http://schemas.openxmlformats.org/officeDocument/2006/relationships/font" Target="fonts/Raleway-italic.fntdata"/><Relationship Id="rId42" Type="http://schemas.openxmlformats.org/officeDocument/2006/relationships/font" Target="fonts/Raleway-boldItalic.fntdata"/><Relationship Id="rId43" Type="http://schemas.openxmlformats.org/officeDocument/2006/relationships/font" Target="fonts/HankenGrotesk-regular.fntdata"/><Relationship Id="rId44" Type="http://schemas.openxmlformats.org/officeDocument/2006/relationships/font" Target="fonts/HankenGrotesk-bold.fntdata"/><Relationship Id="rId45" Type="http://schemas.openxmlformats.org/officeDocument/2006/relationships/font" Target="fonts/HankenGrotesk-italic.fntdata"/><Relationship Id="rId46" Type="http://schemas.openxmlformats.org/officeDocument/2006/relationships/font" Target="fonts/HankenGrotesk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Inter-regular.fntdata"/><Relationship Id="rId49" Type="http://schemas.openxmlformats.org/officeDocument/2006/relationships/font" Target="fonts/Inter-bold.fntdata"/><Relationship Id="rId50" Type="http://schemas.openxmlformats.org/officeDocument/2006/relationships/font" Target="fonts/Inter-italic.fntdata"/><Relationship Id="rId51" Type="http://schemas.openxmlformats.org/officeDocument/2006/relationships/font" Target="fonts/Inter-boldItalic.fntdata"/><Relationship Id="rId52" Type="http://schemas.openxmlformats.org/officeDocument/2006/relationships/font" Target="fonts/RobotoMono-regular.fntdata"/><Relationship Id="rId53" Type="http://schemas.openxmlformats.org/officeDocument/2006/relationships/font" Target="fonts/RobotoMono-bold.fntdata"/><Relationship Id="rId54" Type="http://schemas.openxmlformats.org/officeDocument/2006/relationships/font" Target="fonts/RobotoMono-italic.fntdata"/><Relationship Id="rId55" Type="http://schemas.openxmlformats.org/officeDocument/2006/relationships/font" Target="fonts/RobotoMono-boldItalic.fntdata"/><Relationship Id="rId56" Type="http://schemas.openxmlformats.org/officeDocument/2006/relationships/font" Target="fonts/OpenSans-regular.fntdata"/><Relationship Id="rId57" Type="http://schemas.openxmlformats.org/officeDocument/2006/relationships/font" Target="fonts/OpenSans-bold.fntdata"/><Relationship Id="rId58" Type="http://schemas.openxmlformats.org/officeDocument/2006/relationships/font" Target="fonts/OpenSans-italic.fntdata"/><Relationship Id="rId59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Typically rangers rely on citizen reports to address these issues, though a report may lack detail, confuse a bloom with a look-alike, or leave the reporter without feedback. Verdant connects guided reporting, ranger review, and explainable sampling priorities. We used Lake Mead as a pilot to demonstrate the workflow; we used Coimbra to show its application to a OneAquaHealth case-study city and its scalability to other locations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Water ecosystem health connects people, animals, and the environment. From 2016 to 2018, eighteen U.S. states reported four hundred twenty-one harmful algal bloom events, associated with hundreds of human and animal illnesses. Monitoring and useful citizen observations are both part of the response.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e1d838b627_4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e1d838b627_4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Today, our prototype demonstrates the interface, scoring logic, and reporting loop. Reports stay in one browser, but this is not a shared citizen-and-ranger service yet. Our next steps are a shared backend, authenticated ranger roles, and duplicate-report controls, alongside field validation and usability testing. We would measure reporting completion, usefulness to rangers, and agreement with field results before claiming better monitoring outcomes.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36c95c075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36c95c075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Verdant turns a shoreline observation into a visible path toward review and action, helping communities contribute and experts decide where to look first.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hyperlink" Target="https://bit.ly/3A1uf1Q" TargetMode="External"/><Relationship Id="rId6" Type="http://schemas.openxmlformats.org/officeDocument/2006/relationships/hyperlink" Target="http://bit.ly/2TtBDfr" TargetMode="Externa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/>
          <p:nvPr>
            <p:ph idx="2" type="pic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b="0" l="61983" r="0" t="0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9576" y="2926080"/>
            <a:ext cx="7571232" cy="184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" name="Google Shape;23;p3"/>
          <p:cNvSpPr txBox="1"/>
          <p:nvPr>
            <p:ph hasCustomPrompt="1" idx="2" type="title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/>
          <p:nvPr>
            <p:ph idx="3" type="pic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1" name="Google Shape;31;p4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>
            <p:ph idx="1" type="subTitle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2" type="subTitle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36" name="Google Shape;36;p5"/>
          <p:cNvSpPr txBox="1"/>
          <p:nvPr>
            <p:ph idx="3" type="subTitle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4" type="subTitle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/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/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7"/>
          <p:cNvSpPr/>
          <p:nvPr>
            <p:ph idx="2" type="pic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/>
          <p:nvPr>
            <p:ph idx="1" type="subTitle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2" type="subTitle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0"/>
          <p:cNvSpPr/>
          <p:nvPr>
            <p:ph idx="2" type="pic"/>
          </p:nvPr>
        </p:nvSpPr>
        <p:spPr>
          <a:xfrm>
            <a:off x="191450" y="686275"/>
            <a:ext cx="8758200" cy="4130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type="title"/>
          </p:nvPr>
        </p:nvSpPr>
        <p:spPr>
          <a:xfrm>
            <a:off x="6584125" y="3792925"/>
            <a:ext cx="2004000" cy="694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1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69" name="Google Shape;69;p10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/>
          <p:nvPr>
            <p:ph hasCustomPrompt="1" type="title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/>
          <p:nvPr>
            <p:ph idx="1" type="subTitle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2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/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subTitle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1" name="Google Shape;81;p13"/>
          <p:cNvSpPr txBox="1"/>
          <p:nvPr>
            <p:ph idx="2" type="subTitle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3" type="subTitle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4" type="subTitle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5" type="subTitle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6" type="subTitle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7" type="subTitle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8" type="subTitle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hasCustomPrompt="1" idx="9" type="title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/>
          <p:nvPr>
            <p:ph hasCustomPrompt="1" idx="13" type="title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/>
          <p:nvPr>
            <p:ph hasCustomPrompt="1" idx="14" type="title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/>
          <p:nvPr>
            <p:ph hasCustomPrompt="1" idx="15" type="title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/>
          <p:nvPr>
            <p:ph hasCustomPrompt="1" idx="16" type="title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/>
          <p:nvPr>
            <p:ph hasCustomPrompt="1" idx="17" type="title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/>
          <p:nvPr>
            <p:ph hasCustomPrompt="1" idx="18" type="title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/>
          <p:nvPr>
            <p:ph hasCustomPrompt="1" idx="19" type="title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5"/>
          <p:cNvSpPr/>
          <p:nvPr>
            <p:ph idx="2" type="pic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6"/>
          <p:cNvSpPr txBox="1"/>
          <p:nvPr>
            <p:ph type="title"/>
          </p:nvPr>
        </p:nvSpPr>
        <p:spPr>
          <a:xfrm>
            <a:off x="341850" y="689750"/>
            <a:ext cx="84603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111" name="Google Shape;111;p1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/>
          <p:nvPr>
            <p:ph idx="1" type="subTitle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8"/>
          <p:cNvSpPr txBox="1"/>
          <p:nvPr>
            <p:ph idx="2" type="subTitle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8"/>
          <p:cNvSpPr txBox="1"/>
          <p:nvPr>
            <p:ph idx="3" type="subTitle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8"/>
          <p:cNvSpPr txBox="1"/>
          <p:nvPr>
            <p:ph hasCustomPrompt="1" type="title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/>
          <p:nvPr>
            <p:ph hasCustomPrompt="1" idx="4" type="title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/>
          <p:nvPr>
            <p:ph hasCustomPrompt="1" idx="5" type="title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/>
          <p:nvPr>
            <p:ph idx="6" type="title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9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>
            <p:ph idx="1" type="subTitle"/>
          </p:nvPr>
        </p:nvSpPr>
        <p:spPr>
          <a:xfrm>
            <a:off x="330950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9"/>
          <p:cNvSpPr txBox="1"/>
          <p:nvPr>
            <p:ph idx="2" type="subTitle"/>
          </p:nvPr>
        </p:nvSpPr>
        <p:spPr>
          <a:xfrm>
            <a:off x="3225884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9"/>
          <p:cNvSpPr txBox="1"/>
          <p:nvPr>
            <p:ph idx="3" type="subTitle"/>
          </p:nvPr>
        </p:nvSpPr>
        <p:spPr>
          <a:xfrm>
            <a:off x="330950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9"/>
          <p:cNvSpPr txBox="1"/>
          <p:nvPr>
            <p:ph idx="4" type="subTitle"/>
          </p:nvPr>
        </p:nvSpPr>
        <p:spPr>
          <a:xfrm>
            <a:off x="3225884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5" type="subTitle"/>
          </p:nvPr>
        </p:nvSpPr>
        <p:spPr>
          <a:xfrm>
            <a:off x="6120825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9"/>
          <p:cNvSpPr txBox="1"/>
          <p:nvPr>
            <p:ph idx="6" type="subTitle"/>
          </p:nvPr>
        </p:nvSpPr>
        <p:spPr>
          <a:xfrm>
            <a:off x="6120825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 txBox="1"/>
          <p:nvPr>
            <p:ph type="title"/>
          </p:nvPr>
        </p:nvSpPr>
        <p:spPr>
          <a:xfrm>
            <a:off x="341850" y="654800"/>
            <a:ext cx="77040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6" name="Google Shape;136;p19"/>
          <p:cNvSpPr txBox="1"/>
          <p:nvPr>
            <p:ph hasCustomPrompt="1" idx="7" type="title"/>
          </p:nvPr>
        </p:nvSpPr>
        <p:spPr>
          <a:xfrm>
            <a:off x="6132612" y="3071476"/>
            <a:ext cx="25746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9"/>
          <p:cNvSpPr txBox="1"/>
          <p:nvPr>
            <p:ph hasCustomPrompt="1" idx="8" type="title"/>
          </p:nvPr>
        </p:nvSpPr>
        <p:spPr>
          <a:xfrm>
            <a:off x="6132612" y="1677125"/>
            <a:ext cx="25746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8" name="Google Shape;138;p19"/>
          <p:cNvSpPr txBox="1"/>
          <p:nvPr>
            <p:ph hasCustomPrompt="1" idx="9" type="title"/>
          </p:nvPr>
        </p:nvSpPr>
        <p:spPr>
          <a:xfrm>
            <a:off x="3239948" y="1677425"/>
            <a:ext cx="25746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9" name="Google Shape;139;p19"/>
          <p:cNvSpPr txBox="1"/>
          <p:nvPr>
            <p:ph hasCustomPrompt="1" idx="13" type="title"/>
          </p:nvPr>
        </p:nvSpPr>
        <p:spPr>
          <a:xfrm>
            <a:off x="3237714" y="3071476"/>
            <a:ext cx="25794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0" name="Google Shape;140;p19"/>
          <p:cNvSpPr txBox="1"/>
          <p:nvPr>
            <p:ph hasCustomPrompt="1" idx="14" type="title"/>
          </p:nvPr>
        </p:nvSpPr>
        <p:spPr>
          <a:xfrm>
            <a:off x="342736" y="1677125"/>
            <a:ext cx="25794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41" name="Google Shape;141;p19"/>
          <p:cNvSpPr txBox="1"/>
          <p:nvPr>
            <p:ph hasCustomPrompt="1" idx="15" type="title"/>
          </p:nvPr>
        </p:nvSpPr>
        <p:spPr>
          <a:xfrm>
            <a:off x="342736" y="3071476"/>
            <a:ext cx="25794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142" name="Google Shape;142;p19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/>
          <p:nvPr>
            <p:ph hasCustomPrompt="1" type="title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/>
          <p:nvPr>
            <p:ph idx="1" type="subTitle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hasCustomPrompt="1" idx="2" type="title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/>
          <p:nvPr>
            <p:ph idx="3" type="subTitle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2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53" name="Google Shape;153;p2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2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5" name="Google Shape;155;p21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156" name="Google Shape;156;p21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7" name="Google Shape;157;p21" title="Sin título-9.png"/>
          <p:cNvPicPr preferRelativeResize="0"/>
          <p:nvPr/>
        </p:nvPicPr>
        <p:blipFill rotWithShape="1">
          <a:blip r:embed="rId4">
            <a:alphaModFix/>
          </a:blip>
          <a:srcRect b="47107" l="19763" r="19447" t="14676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1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b="1" lang="en" sz="10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b="1" lang="en" sz="10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sz="1000" u="sng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_2_1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26"/>
          <p:cNvSpPr txBox="1"/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CUSTOM_2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3" name="Google Shape;173;p27"/>
          <p:cNvSpPr txBox="1"/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74" name="Google Shape;174;p27"/>
          <p:cNvSpPr txBox="1"/>
          <p:nvPr>
            <p:ph idx="2" type="title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/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66" name="Google Shape;166;p24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pic_s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pic_s3.jp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shot1.jpg"/><Relationship Id="rId5" Type="http://schemas.openxmlformats.org/officeDocument/2006/relationships/image" Target="../media/shot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pic_s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/>
          <p:nvPr>
            <p:ph idx="6" type="title"/>
          </p:nvPr>
        </p:nvSpPr>
        <p:spPr>
          <a:xfrm>
            <a:off x="338328" y="713232"/>
            <a:ext cx="585216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>
                <a:solidFill>
                  <a:schemeClr val="dk1"/>
                </a:solidFill>
              </a:rPr>
              <a:t>Healthier water starts with better observations.</a:t>
            </a:r>
          </a:p>
        </p:txBody>
      </p:sp>
      <p:sp>
        <p:nvSpPr>
          <p:cNvPr id="286" name="Google Shape;286;p35"/>
          <p:cNvSpPr txBox="1"/>
          <p:nvPr>
            <p:ph idx="1" type="subTitle"/>
          </p:nvPr>
        </p:nvSpPr>
        <p:spPr>
          <a:xfrm>
            <a:off x="3145041" y="3310128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human illnesses</a:t>
            </a:r>
          </a:p>
        </p:txBody>
      </p:sp>
      <p:sp>
        <p:nvSpPr>
          <p:cNvPr id="287" name="Google Shape;287;p35"/>
          <p:cNvSpPr txBox="1"/>
          <p:nvPr>
            <p:ph idx="2" type="subTitle"/>
          </p:nvPr>
        </p:nvSpPr>
        <p:spPr>
          <a:xfrm>
            <a:off x="341850" y="3310128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bloom events</a:t>
            </a:r>
          </a:p>
        </p:txBody>
      </p:sp>
      <p:sp>
        <p:nvSpPr>
          <p:cNvPr id="288" name="Google Shape;288;p35"/>
          <p:cNvSpPr txBox="1"/>
          <p:nvPr>
            <p:ph idx="3" type="subTitle"/>
          </p:nvPr>
        </p:nvSpPr>
        <p:spPr>
          <a:xfrm>
            <a:off x="5948257" y="3310128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animal illnesses</a:t>
            </a:r>
          </a:p>
        </p:txBody>
      </p:sp>
      <p:sp>
        <p:nvSpPr>
          <p:cNvPr id="289" name="Google Shape;289;p35"/>
          <p:cNvSpPr txBox="1"/>
          <p:nvPr>
            <p:ph type="title"/>
          </p:nvPr>
        </p:nvSpPr>
        <p:spPr>
          <a:xfrm>
            <a:off x="3145041" y="2487168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389</a:t>
            </a:r>
          </a:p>
        </p:txBody>
      </p:sp>
      <p:sp>
        <p:nvSpPr>
          <p:cNvPr id="290" name="Google Shape;290;p35"/>
          <p:cNvSpPr txBox="1"/>
          <p:nvPr>
            <p:ph idx="4" type="title"/>
          </p:nvPr>
        </p:nvSpPr>
        <p:spPr>
          <a:xfrm>
            <a:off x="341850" y="2487168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421</a:t>
            </a:r>
          </a:p>
        </p:txBody>
      </p:sp>
      <p:sp>
        <p:nvSpPr>
          <p:cNvPr id="291" name="Google Shape;291;p35"/>
          <p:cNvSpPr txBox="1"/>
          <p:nvPr>
            <p:ph idx="5" type="title"/>
          </p:nvPr>
        </p:nvSpPr>
        <p:spPr>
          <a:xfrm>
            <a:off x="5948257" y="2487168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413+</a:t>
            </a:r>
          </a:p>
        </p:txBody>
      </p:sp>
      <p:sp>
        <p:nvSpPr>
          <p:cNvPr id="901" name="Text"/>
          <p:cNvSpPr txBox="1"/>
          <p:nvPr/>
        </p:nvSpPr>
        <p:spPr>
          <a:xfrm>
            <a:off x="338328" y="3730752"/>
            <a:ext cx="7863840" cy="45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18 U.S. states, 2016–2018 — not Lake Mead-specific</a:t>
            </a:r>
          </a:p>
        </p:txBody>
      </p:sp>
      <p:sp>
        <p:nvSpPr>
          <p:cNvPr id="902" name="Text"/>
          <p:cNvSpPr txBox="1"/>
          <p:nvPr/>
        </p:nvSpPr>
        <p:spPr>
          <a:xfrm>
            <a:off x="338328" y="4315968"/>
            <a:ext cx="5800000" cy="40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Source: CDC, MMWR 69(50), December 18, 2020</a:t>
            </a:r>
          </a:p>
        </p:txBody>
      </p:sp>
      <p:sp>
        <p:nvSpPr>
          <p:cNvPr id="903" name="Text"/>
          <p:cNvSpPr txBox="1"/>
          <p:nvPr/>
        </p:nvSpPr>
        <p:spPr>
          <a:xfrm>
            <a:off x="338328" y="2011680"/>
            <a:ext cx="5852160" cy="402336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Environment · People · Animals</a:t>
            </a:r>
          </a:p>
        </p:txBody>
      </p:sp>
      <p:pic>
        <p:nvPicPr>
          <p:cNvPr id="910" name="Window bar" descr=""/>
          <p:cNvPicPr>
            <a:picLocks noChangeAspect="1"/>
          </p:cNvPicPr>
          <p:nvPr/>
        </p:nvPicPr>
        <p:blipFill>
          <a:blip r:embed="rId3"/>
          <a:srcRect l="66804"/>
          <a:stretch/>
        </p:blipFill>
        <p:spPr>
          <a:xfrm>
            <a:off x="6492240" y="914400"/>
            <a:ext cx="2103120" cy="225765"/>
          </a:xfrm>
          <a:prstGeom prst="rect">
            <a:avLst/>
          </a:prstGeom>
        </p:spPr>
      </p:pic>
      <p:pic>
        <p:nvPicPr>
          <p:cNvPr id="911" name="Picture" descr="Turquoise lake water under a clear sky, a stand-in for the open water the bloom figures describ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1140165"/>
            <a:ext cx="2084832" cy="1105784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descr="Verdant sampling priority list ranking Callville Bay first, with its very high risk score and recommended sampling target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450000" y="1099845"/>
            <a:ext cx="2300000" cy="1694737"/>
          </a:xfrm>
          <a:prstGeom prst="rect">
            <a:avLst/>
          </a:prstGeom>
        </p:spPr>
      </p:pic>
      <p:sp>
        <p:nvSpPr>
          <p:cNvPr id="260" name="Google Shape;260;p32"/>
          <p:cNvSpPr txBox="1"/>
          <p:nvPr>
            <p:ph idx="1" type="subTitle"/>
          </p:nvPr>
        </p:nvSpPr>
        <p:spPr>
          <a:xfrm>
            <a:off x="1417320" y="3822192"/>
            <a:ext cx="7269480" cy="8229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Citizen observation → Ranger review → Sampling priority → Reporter feedback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Track 6: Resilience Informatics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Lake Mead: pilot workflow · Coimbra: OneAquaHealth application</a:t>
            </a:r>
          </a:p>
        </p:txBody>
      </p:sp>
      <p:sp>
        <p:nvSpPr>
          <p:cNvPr id="261" name="Google Shape;261;p32"/>
          <p:cNvSpPr txBox="1"/>
          <p:nvPr>
            <p:ph type="title"/>
          </p:nvPr>
        </p:nvSpPr>
        <p:spPr>
          <a:xfrm>
            <a:off x="1000000" y="1532500"/>
            <a:ext cx="4350000" cy="152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400">
                <a:solidFill>
                  <a:schemeClr val="dk1"/>
                </a:solidFill>
              </a:rPr>
              <a:t>Turn an observation into useful follow-up.</a:t>
            </a:r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450000" y="855585"/>
            <a:ext cx="2300000" cy="244260"/>
            <a:chOff x="6450000" y="855585"/>
            <a:chExt cx="2300000" cy="24426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6436" r="0" t="0"/>
            <a:stretch/>
          </p:blipFill>
          <p:spPr>
            <a:xfrm>
              <a:off x="6450000" y="855585"/>
              <a:ext cx="2300000" cy="2442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6436" r="0" t="0"/>
            <a:stretch/>
          </p:blipFill>
          <p:spPr>
            <a:xfrm>
              <a:off x="6450000" y="855585"/>
              <a:ext cx="2300000" cy="244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6"/>
          <p:cNvSpPr txBox="1"/>
          <p:nvPr>
            <p:ph type="title"/>
          </p:nvPr>
        </p:nvSpPr>
        <p:spPr>
          <a:xfrm>
            <a:off x="341850" y="654800"/>
            <a:ext cx="8700000" cy="9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800">
                <a:solidFill>
                  <a:schemeClr val="dk1"/>
                </a:solidFill>
              </a:rPr>
              <a:t>From a working demonstration to field use</a:t>
            </a:r>
          </a:p>
        </p:txBody>
      </p:sp>
      <p:sp>
        <p:nvSpPr>
          <p:cNvPr id="298" name="Google Shape;298;p36"/>
          <p:cNvSpPr txBox="1"/>
          <p:nvPr>
            <p:ph idx="1" type="subTitle"/>
          </p:nvPr>
        </p:nvSpPr>
        <p:spPr>
          <a:xfrm>
            <a:off x="429768" y="1700000"/>
            <a:ext cx="3931920" cy="11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Guided reporting and outcome history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Explainable scoring and regional configuration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Demonstrated ranger-review workflow</a:t>
            </a:r>
          </a:p>
        </p:txBody>
      </p:sp>
      <p:sp>
        <p:nvSpPr>
          <p:cNvPr id="299" name="Google Shape;299;p36"/>
          <p:cNvSpPr txBox="1"/>
          <p:nvPr>
            <p:ph idx="2" type="subTitle"/>
          </p:nvPr>
        </p:nvSpPr>
        <p:spPr>
          <a:xfrm>
            <a:off x="4315968" y="1700000"/>
            <a:ext cx="4434840" cy="11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Test reporting with citizens and rangers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Compare scores with field measurements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Shared backend, ranger authentication, duplicate controls</a:t>
            </a:r>
          </a:p>
        </p:txBody>
      </p:sp>
      <p:sp>
        <p:nvSpPr>
          <p:cNvPr id="305" name="Google Shape;305;p36"/>
          <p:cNvSpPr txBox="1"/>
          <p:nvPr>
            <p:ph idx="9" type="title"/>
          </p:nvPr>
        </p:nvSpPr>
        <p:spPr>
          <a:xfrm>
            <a:off x="4315968" y="1250000"/>
            <a:ext cx="4599432" cy="4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800">
                <a:solidFill>
                  <a:schemeClr val="dk1"/>
                </a:solidFill>
              </a:rPr>
              <a:t>Next validation and deployment steps</a:t>
            </a:r>
          </a:p>
        </p:txBody>
      </p:sp>
      <p:sp>
        <p:nvSpPr>
          <p:cNvPr id="307" name="Google Shape;307;p36"/>
          <p:cNvSpPr txBox="1"/>
          <p:nvPr>
            <p:ph idx="14" type="title"/>
          </p:nvPr>
        </p:nvSpPr>
        <p:spPr>
          <a:xfrm>
            <a:off x="433000" y="1250000"/>
            <a:ext cx="3700000" cy="4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800">
                <a:solidFill>
                  <a:schemeClr val="dk1"/>
                </a:solidFill>
              </a:rPr>
              <a:t>Working now</a:t>
            </a:r>
          </a:p>
        </p:txBody>
      </p:sp>
      <p:pic>
        <p:nvPicPr>
          <p:cNvPr id="901" name="Window bar" descr=""/>
          <p:cNvPicPr>
            <a:picLocks noChangeAspect="1"/>
          </p:cNvPicPr>
          <p:nvPr/>
        </p:nvPicPr>
        <p:blipFill>
          <a:blip r:embed="rId3"/>
          <a:srcRect l="64119"/>
          <a:stretch/>
        </p:blipFill>
        <p:spPr>
          <a:xfrm>
            <a:off x="429768" y="3200400"/>
            <a:ext cx="1540581" cy="151425"/>
          </a:xfrm>
          <a:prstGeom prst="rect">
            <a:avLst/>
          </a:prstGeom>
        </p:spPr>
      </p:pic>
      <p:pic>
        <p:nvPicPr>
          <p:cNvPr id="902" name="Screenshot" descr="Report for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3351825"/>
            <a:ext cx="1527414" cy="75054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  <p:pic>
        <p:nvPicPr>
          <p:cNvPr id="903" name="Window bar" descr=""/>
          <p:cNvPicPr>
            <a:picLocks noChangeAspect="1"/>
          </p:cNvPicPr>
          <p:nvPr/>
        </p:nvPicPr>
        <p:blipFill>
          <a:blip r:embed="rId3"/>
          <a:srcRect l="64119"/>
          <a:stretch/>
        </p:blipFill>
        <p:spPr>
          <a:xfrm>
            <a:off x="4315968" y="3200400"/>
            <a:ext cx="1540581" cy="151425"/>
          </a:xfrm>
          <a:prstGeom prst="rect">
            <a:avLst/>
          </a:prstGeom>
        </p:spPr>
      </p:pic>
      <p:pic>
        <p:nvPicPr>
          <p:cNvPr id="904" name="Screenshot" descr="Sampling priority li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6" y="3351825"/>
            <a:ext cx="1527414" cy="75054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  <p:sp>
        <p:nvSpPr>
          <p:cNvPr id="907" name="Panel"/>
          <p:cNvSpPr/>
          <p:nvPr/>
        </p:nvSpPr>
        <p:spPr>
          <a:xfrm>
            <a:off x="433000" y="4300000"/>
            <a:ext cx="8300000" cy="280000"/>
          </a:xfrm>
          <a:prstGeom prst="rect">
            <a:avLst/>
          </a:prstGeom>
          <a:solidFill>
            <a:srgbClr val="EFEFEF"/>
          </a:solidFill>
          <a:ln w="12700">
            <a:solidFill>
              <a:srgbClr val="707070"/>
            </a:solidFill>
          </a:ln>
        </p:spPr>
        <p:txBody>
          <a:bodyPr wrap="square" lIns="91425" tIns="45720" rIns="91425" bIns="4572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Intended impact: more useful reports · clearer sampling priorities · visible follow-up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1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>
                <a:solidFill>
                  <a:schemeClr val="dk1"/>
                </a:solidFill>
              </a:rPr>
              <a:t>Verdant</a:t>
            </a:r>
          </a:p>
        </p:txBody>
      </p:sp>
      <p:sp>
        <p:nvSpPr>
          <p:cNvPr id="373" name="Google Shape;373;p41"/>
          <p:cNvSpPr txBox="1"/>
          <p:nvPr>
            <p:ph idx="1" type="subTitle"/>
          </p:nvPr>
        </p:nvSpPr>
        <p:spPr>
          <a:xfrm>
            <a:off x="669775" y="1850750"/>
            <a:ext cx="38862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 b="1">
                <a:solidFill>
                  <a:schemeClr val="dk1"/>
                </a:solidFill>
              </a:rPr>
              <a:t>Better observations. Clearer priorities. Visible follow-up.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verdant.albert14059.workers.dev</a:t>
            </a:r>
          </a:p>
        </p:txBody>
      </p:sp>
      <p:sp>
        <p:nvSpPr>
          <p:cNvPr id="374" name="Google Shape;374;p41"/>
          <p:cNvSpPr txBox="1"/>
          <p:nvPr/>
        </p:nvSpPr>
        <p:spPr>
          <a:xfrm>
            <a:off x="4941648" y="3180650"/>
            <a:ext cx="3206400" cy="2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Please keep this slide for attribution</a:t>
            </a:r>
            <a:endParaRPr sz="10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90" name="Google Shape;390;p41"/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Verdant</a:t>
            </a:r>
          </a:p>
        </p:txBody>
      </p:sp>
      <p:pic>
        <p:nvPicPr>
          <p:cNvPr id="910" name="Window bar" descr=""/>
          <p:cNvPicPr>
            <a:picLocks noChangeAspect="1"/>
          </p:cNvPicPr>
          <p:nvPr/>
        </p:nvPicPr>
        <p:blipFill>
          <a:blip r:embed="rId3"/>
          <a:srcRect l="52707"/>
          <a:stretch/>
        </p:blipFill>
        <p:spPr>
          <a:xfrm>
            <a:off x="749808" y="3310128"/>
            <a:ext cx="2992374" cy="225400"/>
          </a:xfrm>
          <a:prstGeom prst="rect">
            <a:avLst/>
          </a:prstGeom>
        </p:spPr>
      </p:pic>
      <p:pic>
        <p:nvPicPr>
          <p:cNvPr id="911" name="Picture" descr="Green rolling hills under a blue sky with cloud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535528"/>
            <a:ext cx="2976829" cy="1049274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Verdant</dc:title>
  <cp:lastModifiedBy>Verdant</cp:lastModifiedBy>
  <cp:revision>1</cp:revision>
  <dcterms:modified xsi:type="dcterms:W3CDTF">2026-10-05T00:03:40Z</dcterms:modified>
  <dc:creator>Verdant</dc:creator>
  <dc:subject>See the bloom before it becomes a warning</dc:subject>
  <dc:description/>
  <cp:keywords/>
</cp:coreProperties>
</file>