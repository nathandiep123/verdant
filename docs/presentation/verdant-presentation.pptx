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63" r:id="rId14"/>
    <p:sldId id="260" r:id="rId11"/>
    <p:sldId id="264" r:id="rId15"/>
    <p:sldId id="269" r:id="rId20"/>
  </p:sldIdLst>
  <p:sldSz cy="5143500" cx="9144000"/>
  <p:notesSz cx="6858000" cy="9144000"/>
  <p:embeddedFontLst>
    <p:embeddedFont>
      <p:font typeface="Raleway"/>
      <p:regular r:id="rId39"/>
      <p:bold r:id="rId40"/>
      <p:italic r:id="rId41"/>
      <p:boldItalic r:id="rId42"/>
    </p:embeddedFont>
    <p:embeddedFont>
      <p:font typeface="Hanken Grotesk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Inter"/>
      <p:regular r:id="rId48"/>
      <p:bold r:id="rId49"/>
      <p:italic r:id="rId50"/>
      <p:boldItalic r:id="rId51"/>
    </p:embeddedFont>
    <p:embeddedFont>
      <p:font typeface="Roboto Mono"/>
      <p:regular r:id="rId52"/>
      <p:bold r:id="rId53"/>
      <p:italic r:id="rId54"/>
      <p:boldItalic r:id="rId55"/>
    </p:embeddedFont>
    <p:embeddedFont>
      <p:font typeface="Open Sans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535528E-C875-4908-AB80-04C8A26A6AD9}">
  <a:tblStyle styleId="{9535528E-C875-4908-AB80-04C8A26A6AD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11" Type="http://schemas.openxmlformats.org/officeDocument/2006/relationships/slide" Target="slides/slide3.xml"/><Relationship Id="rId14" Type="http://schemas.openxmlformats.org/officeDocument/2006/relationships/slide" Target="slides/slide1.xml"/><Relationship Id="rId15" Type="http://schemas.openxmlformats.org/officeDocument/2006/relationships/slide" Target="slides/slide4.xml"/><Relationship Id="rId20" Type="http://schemas.openxmlformats.org/officeDocument/2006/relationships/slide" Target="slides/slide5.xml"/><Relationship Id="rId39" Type="http://schemas.openxmlformats.org/officeDocument/2006/relationships/font" Target="fonts/Raleway-regular.fntdata"/><Relationship Id="rId40" Type="http://schemas.openxmlformats.org/officeDocument/2006/relationships/font" Target="fonts/Raleway-bold.fntdata"/><Relationship Id="rId41" Type="http://schemas.openxmlformats.org/officeDocument/2006/relationships/font" Target="fonts/Raleway-italic.fntdata"/><Relationship Id="rId42" Type="http://schemas.openxmlformats.org/officeDocument/2006/relationships/font" Target="fonts/Raleway-boldItalic.fntdata"/><Relationship Id="rId43" Type="http://schemas.openxmlformats.org/officeDocument/2006/relationships/font" Target="fonts/HankenGrotesk-regular.fntdata"/><Relationship Id="rId44" Type="http://schemas.openxmlformats.org/officeDocument/2006/relationships/font" Target="fonts/HankenGrotesk-bold.fntdata"/><Relationship Id="rId45" Type="http://schemas.openxmlformats.org/officeDocument/2006/relationships/font" Target="fonts/HankenGrotesk-italic.fntdata"/><Relationship Id="rId46" Type="http://schemas.openxmlformats.org/officeDocument/2006/relationships/font" Target="fonts/HankenGrotesk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Inter-regular.fntdata"/><Relationship Id="rId49" Type="http://schemas.openxmlformats.org/officeDocument/2006/relationships/font" Target="fonts/Inter-bold.fntdata"/><Relationship Id="rId50" Type="http://schemas.openxmlformats.org/officeDocument/2006/relationships/font" Target="fonts/Inter-italic.fntdata"/><Relationship Id="rId51" Type="http://schemas.openxmlformats.org/officeDocument/2006/relationships/font" Target="fonts/Inter-boldItalic.fntdata"/><Relationship Id="rId52" Type="http://schemas.openxmlformats.org/officeDocument/2006/relationships/font" Target="fonts/RobotoMono-regular.fntdata"/><Relationship Id="rId53" Type="http://schemas.openxmlformats.org/officeDocument/2006/relationships/font" Target="fonts/RobotoMono-bold.fntdata"/><Relationship Id="rId54" Type="http://schemas.openxmlformats.org/officeDocument/2006/relationships/font" Target="fonts/RobotoMono-italic.fntdata"/><Relationship Id="rId55" Type="http://schemas.openxmlformats.org/officeDocument/2006/relationships/font" Target="fonts/RobotoMono-boldItalic.fntdata"/><Relationship Id="rId56" Type="http://schemas.openxmlformats.org/officeDocument/2006/relationships/font" Target="fonts/OpenSans-regular.fntdata"/><Relationship Id="rId57" Type="http://schemas.openxmlformats.org/officeDocument/2006/relationships/font" Target="fonts/OpenSans-bold.fntdata"/><Relationship Id="rId58" Type="http://schemas.openxmlformats.org/officeDocument/2006/relationships/font" Target="fonts/OpenSans-italic.fntdata"/><Relationship Id="rId59" Type="http://schemas.openxmlformats.org/officeDocument/2006/relationships/font" Target="fonts/Open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e1d838b627_4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e1d838b627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lang="en"/>
              <a:t>Typically rangers rely on citizen reports to address these issues, though a report may lack detail, confuse a bloom with a look-alike, or leave the reporter without feedback. Verdant connects guided reporting, ranger review, and explainable sampling priorities. We used Lake Mead as a pilot to demonstrate the workflow; we used Coimbra to show its application to a OneAquaHealth case-study city and its scalability to other locations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e1d838b627_4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e1d838b627_4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lang="en"/>
              <a:t>Water ecosystem health connects people, animals, and the environment. From 2016 to 2018, eighteen U.S. states reported four hundred twenty-one harmful algal bloom events, associated with hundreds of human and animal illnesses. Monitoring and useful citizen observations are both part of the response.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e1d838b627_4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e1d838b627_4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lang="en"/>
              <a:t>Today, our prototype demonstrates the interface, scoring logic, and reporting loop. Reports stay in one browser, but this is not a shared citizen-and-ranger service yet. Our next steps are a shared backend, authenticated ranger roles, and duplicate-report controls, alongside field validation and usability testing. We would measure reporting completion, usefulness to rangers, and agreement with field results before claiming better monitoring outcomes.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36c95c0757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36c95c0757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lang="en"/>
              <a:t>Verdant turns a shoreline observation into a visible path toward review and action, helping communities contribute and experts decide where to look first.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hyperlink" Target="https://bit.ly/3A1uf1Q" TargetMode="External"/><Relationship Id="rId6" Type="http://schemas.openxmlformats.org/officeDocument/2006/relationships/hyperlink" Target="http://bit.ly/2TtBDfr" TargetMode="Externa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0" name="Google Shape;10;p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2;p2"/>
          <p:cNvSpPr/>
          <p:nvPr>
            <p:ph idx="2" type="pic"/>
          </p:nvPr>
        </p:nvSpPr>
        <p:spPr>
          <a:xfrm>
            <a:off x="5805375" y="1317075"/>
            <a:ext cx="2831700" cy="26481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2"/>
          <p:cNvSpPr txBox="1"/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606800" y="3364900"/>
            <a:ext cx="4351500" cy="11352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5" name="Google Shape;15;p2" title="Sin título-2.png"/>
          <p:cNvPicPr preferRelativeResize="0"/>
          <p:nvPr/>
        </p:nvPicPr>
        <p:blipFill rotWithShape="1">
          <a:blip r:embed="rId3">
            <a:alphaModFix/>
          </a:blip>
          <a:srcRect b="0" l="61983" r="0" t="0"/>
          <a:stretch/>
        </p:blipFill>
        <p:spPr>
          <a:xfrm>
            <a:off x="5805376" y="1051575"/>
            <a:ext cx="2831677" cy="265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3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8" name="Google Shape;18;p3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0" name="Google Shape;20;p3" title="Sin título-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64599" y="3109600"/>
            <a:ext cx="6584000" cy="1613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 title="Sin título-4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5462" y="817950"/>
            <a:ext cx="5399452" cy="3024425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type="title"/>
          </p:nvPr>
        </p:nvSpPr>
        <p:spPr>
          <a:xfrm>
            <a:off x="1860500" y="1532500"/>
            <a:ext cx="3459000" cy="1521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3" name="Google Shape;23;p3"/>
          <p:cNvSpPr txBox="1"/>
          <p:nvPr>
            <p:ph hasCustomPrompt="1" idx="2" type="title"/>
          </p:nvPr>
        </p:nvSpPr>
        <p:spPr>
          <a:xfrm>
            <a:off x="779673" y="1910725"/>
            <a:ext cx="778200" cy="7644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50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/>
          <p:nvPr>
            <p:ph idx="1" type="subTitle"/>
          </p:nvPr>
        </p:nvSpPr>
        <p:spPr>
          <a:xfrm>
            <a:off x="3465325" y="3918575"/>
            <a:ext cx="5174400" cy="66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/>
          <p:nvPr>
            <p:ph idx="3" type="pic"/>
          </p:nvPr>
        </p:nvSpPr>
        <p:spPr>
          <a:xfrm flipH="1">
            <a:off x="6386650" y="947025"/>
            <a:ext cx="2107500" cy="20676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4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28" name="Google Shape;28;p4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4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" name="Google Shape;30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1" name="Google Shape;31;p4"/>
          <p:cNvSpPr txBox="1"/>
          <p:nvPr>
            <p:ph idx="1" type="body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Darker Grotesque SemiBold"/>
              <a:buChar char="●"/>
              <a:defRPr sz="1200">
                <a:solidFill>
                  <a:srgbClr val="434343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/>
          <p:nvPr>
            <p:ph idx="1" type="subTitle"/>
          </p:nvPr>
        </p:nvSpPr>
        <p:spPr>
          <a:xfrm>
            <a:off x="3540003" y="1330738"/>
            <a:ext cx="39414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35" name="Google Shape;35;p5"/>
          <p:cNvSpPr txBox="1"/>
          <p:nvPr>
            <p:ph idx="2" type="subTitle"/>
          </p:nvPr>
        </p:nvSpPr>
        <p:spPr>
          <a:xfrm>
            <a:off x="3540003" y="3067776"/>
            <a:ext cx="39414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36" name="Google Shape;36;p5"/>
          <p:cNvSpPr txBox="1"/>
          <p:nvPr>
            <p:ph idx="3" type="subTitle"/>
          </p:nvPr>
        </p:nvSpPr>
        <p:spPr>
          <a:xfrm>
            <a:off x="3540003" y="1827236"/>
            <a:ext cx="3941400" cy="11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4" type="subTitle"/>
          </p:nvPr>
        </p:nvSpPr>
        <p:spPr>
          <a:xfrm>
            <a:off x="3540003" y="3564275"/>
            <a:ext cx="3941400" cy="11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type="title"/>
          </p:nvPr>
        </p:nvSpPr>
        <p:spPr>
          <a:xfrm>
            <a:off x="341850" y="654800"/>
            <a:ext cx="8573700" cy="602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39" name="Google Shape;39;p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oogle Shape;41;p6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2" name="Google Shape;42;p6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;p6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" name="Google Shape;44;p6"/>
          <p:cNvSpPr txBox="1"/>
          <p:nvPr>
            <p:ph type="title"/>
          </p:nvPr>
        </p:nvSpPr>
        <p:spPr>
          <a:xfrm>
            <a:off x="341850" y="654800"/>
            <a:ext cx="8460300" cy="602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45" name="Google Shape;45;p6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oogle Shape;47;p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8" name="Google Shape;48;p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9;p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0" name="Google Shape;50;p7"/>
          <p:cNvSpPr txBox="1"/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7"/>
          <p:cNvSpPr/>
          <p:nvPr>
            <p:ph idx="2" type="pic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8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5" name="Google Shape;55;p8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56;p8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oogle Shape;59;p9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0" name="Google Shape;60;p9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1;p9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2" name="Google Shape;62;p9"/>
          <p:cNvSpPr txBox="1"/>
          <p:nvPr>
            <p:ph idx="1" type="subTitle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2" type="subTitle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0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0"/>
          <p:cNvSpPr/>
          <p:nvPr>
            <p:ph idx="2" type="pic"/>
          </p:nvPr>
        </p:nvSpPr>
        <p:spPr>
          <a:xfrm>
            <a:off x="191450" y="686275"/>
            <a:ext cx="8758200" cy="4130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type="title"/>
          </p:nvPr>
        </p:nvSpPr>
        <p:spPr>
          <a:xfrm>
            <a:off x="6584125" y="3792925"/>
            <a:ext cx="2004000" cy="694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1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69" name="Google Shape;69;p10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oogle Shape;71;p11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72" name="Google Shape;72;p11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11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4" name="Google Shape;74;p11"/>
          <p:cNvSpPr txBox="1"/>
          <p:nvPr>
            <p:ph hasCustomPrompt="1" type="title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75" name="Google Shape;75;p11"/>
          <p:cNvSpPr txBox="1"/>
          <p:nvPr>
            <p:ph idx="1" type="subTitle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2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3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3"/>
          <p:cNvSpPr txBox="1"/>
          <p:nvPr>
            <p:ph type="title"/>
          </p:nvPr>
        </p:nvSpPr>
        <p:spPr>
          <a:xfrm>
            <a:off x="341850" y="654800"/>
            <a:ext cx="8453400" cy="6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subTitle"/>
          </p:nvPr>
        </p:nvSpPr>
        <p:spPr>
          <a:xfrm>
            <a:off x="1107250" y="1796625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1" name="Google Shape;81;p13"/>
          <p:cNvSpPr txBox="1"/>
          <p:nvPr>
            <p:ph idx="2" type="subTitle"/>
          </p:nvPr>
        </p:nvSpPr>
        <p:spPr>
          <a:xfrm>
            <a:off x="1107250" y="2442833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2" name="Google Shape;82;p13"/>
          <p:cNvSpPr txBox="1"/>
          <p:nvPr>
            <p:ph idx="3" type="subTitle"/>
          </p:nvPr>
        </p:nvSpPr>
        <p:spPr>
          <a:xfrm>
            <a:off x="1107250" y="3089042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3" name="Google Shape;83;p13"/>
          <p:cNvSpPr txBox="1"/>
          <p:nvPr>
            <p:ph idx="4" type="subTitle"/>
          </p:nvPr>
        </p:nvSpPr>
        <p:spPr>
          <a:xfrm>
            <a:off x="1107250" y="3735250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4" name="Google Shape;84;p13"/>
          <p:cNvSpPr txBox="1"/>
          <p:nvPr>
            <p:ph idx="5" type="subTitle"/>
          </p:nvPr>
        </p:nvSpPr>
        <p:spPr>
          <a:xfrm>
            <a:off x="4851600" y="1796625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5" name="Google Shape;85;p13"/>
          <p:cNvSpPr txBox="1"/>
          <p:nvPr>
            <p:ph idx="6" type="subTitle"/>
          </p:nvPr>
        </p:nvSpPr>
        <p:spPr>
          <a:xfrm>
            <a:off x="4851600" y="2442831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7" type="subTitle"/>
          </p:nvPr>
        </p:nvSpPr>
        <p:spPr>
          <a:xfrm>
            <a:off x="4851600" y="3089037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7" name="Google Shape;87;p13"/>
          <p:cNvSpPr txBox="1"/>
          <p:nvPr>
            <p:ph idx="8" type="subTitle"/>
          </p:nvPr>
        </p:nvSpPr>
        <p:spPr>
          <a:xfrm>
            <a:off x="4851600" y="3735244"/>
            <a:ext cx="2799900" cy="53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2300">
                <a:latin typeface="VT323"/>
                <a:ea typeface="VT323"/>
                <a:cs typeface="VT323"/>
                <a:sym typeface="VT323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hasCustomPrompt="1" idx="9" type="title"/>
          </p:nvPr>
        </p:nvSpPr>
        <p:spPr>
          <a:xfrm>
            <a:off x="341850" y="3849550"/>
            <a:ext cx="7653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9" name="Google Shape;89;p13"/>
          <p:cNvSpPr txBox="1"/>
          <p:nvPr>
            <p:ph hasCustomPrompt="1" idx="13" type="title"/>
          </p:nvPr>
        </p:nvSpPr>
        <p:spPr>
          <a:xfrm>
            <a:off x="341850" y="2560850"/>
            <a:ext cx="7653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/>
          <p:nvPr>
            <p:ph hasCustomPrompt="1" idx="14" type="title"/>
          </p:nvPr>
        </p:nvSpPr>
        <p:spPr>
          <a:xfrm>
            <a:off x="342582" y="1916800"/>
            <a:ext cx="764100" cy="31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1" name="Google Shape;91;p13"/>
          <p:cNvSpPr txBox="1"/>
          <p:nvPr>
            <p:ph hasCustomPrompt="1" idx="15" type="title"/>
          </p:nvPr>
        </p:nvSpPr>
        <p:spPr>
          <a:xfrm>
            <a:off x="341850" y="3205200"/>
            <a:ext cx="7653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/>
          <p:nvPr>
            <p:ph hasCustomPrompt="1" idx="16" type="title"/>
          </p:nvPr>
        </p:nvSpPr>
        <p:spPr>
          <a:xfrm>
            <a:off x="3985789" y="2561048"/>
            <a:ext cx="8658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/>
          <p:nvPr>
            <p:ph hasCustomPrompt="1" idx="17" type="title"/>
          </p:nvPr>
        </p:nvSpPr>
        <p:spPr>
          <a:xfrm>
            <a:off x="3985787" y="3205296"/>
            <a:ext cx="8658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/>
          <p:nvPr>
            <p:ph hasCustomPrompt="1" idx="18" type="title"/>
          </p:nvPr>
        </p:nvSpPr>
        <p:spPr>
          <a:xfrm>
            <a:off x="3985789" y="3849544"/>
            <a:ext cx="8658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/>
          <p:nvPr>
            <p:ph hasCustomPrompt="1" idx="19" type="title"/>
          </p:nvPr>
        </p:nvSpPr>
        <p:spPr>
          <a:xfrm>
            <a:off x="3985789" y="1916800"/>
            <a:ext cx="8658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7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pic>
        <p:nvPicPr>
          <p:cNvPr id="96" name="Google Shape;96;p13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2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00" name="Google Shape;100;p14"/>
          <p:cNvSpPr txBox="1"/>
          <p:nvPr>
            <p:ph idx="1" type="subTitle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1" name="Google Shape;101;p14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1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5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789425" y="2229300"/>
            <a:ext cx="4940100" cy="253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15"/>
          <p:cNvSpPr/>
          <p:nvPr>
            <p:ph idx="2" type="pic"/>
          </p:nvPr>
        </p:nvSpPr>
        <p:spPr>
          <a:xfrm>
            <a:off x="522525" y="1195150"/>
            <a:ext cx="2947200" cy="3341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pic>
        <p:nvPicPr>
          <p:cNvPr id="107" name="Google Shape;107;p15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6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6"/>
          <p:cNvSpPr txBox="1"/>
          <p:nvPr>
            <p:ph type="title"/>
          </p:nvPr>
        </p:nvSpPr>
        <p:spPr>
          <a:xfrm>
            <a:off x="341850" y="689750"/>
            <a:ext cx="84603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111" name="Google Shape;111;p16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_ONLY_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1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14" name="Google Shape;114;p17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" name="Google Shape;115;p17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6" name="Google Shape;116;p1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1_1_1_2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8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8"/>
          <p:cNvSpPr txBox="1"/>
          <p:nvPr>
            <p:ph idx="1" type="subTitle"/>
          </p:nvPr>
        </p:nvSpPr>
        <p:spPr>
          <a:xfrm>
            <a:off x="3145041" y="2118945"/>
            <a:ext cx="2599200" cy="20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8"/>
          <p:cNvSpPr txBox="1"/>
          <p:nvPr>
            <p:ph idx="2" type="subTitle"/>
          </p:nvPr>
        </p:nvSpPr>
        <p:spPr>
          <a:xfrm>
            <a:off x="341850" y="2118945"/>
            <a:ext cx="2599200" cy="20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18"/>
          <p:cNvSpPr txBox="1"/>
          <p:nvPr>
            <p:ph idx="3" type="subTitle"/>
          </p:nvPr>
        </p:nvSpPr>
        <p:spPr>
          <a:xfrm>
            <a:off x="5948257" y="2118945"/>
            <a:ext cx="2599200" cy="20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8"/>
          <p:cNvSpPr txBox="1"/>
          <p:nvPr>
            <p:ph hasCustomPrompt="1" type="title"/>
          </p:nvPr>
        </p:nvSpPr>
        <p:spPr>
          <a:xfrm>
            <a:off x="3144432" y="1706300"/>
            <a:ext cx="6987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3" name="Google Shape;123;p18"/>
          <p:cNvSpPr txBox="1"/>
          <p:nvPr>
            <p:ph hasCustomPrompt="1" idx="4" type="title"/>
          </p:nvPr>
        </p:nvSpPr>
        <p:spPr>
          <a:xfrm>
            <a:off x="341854" y="1706450"/>
            <a:ext cx="697500" cy="31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24" name="Google Shape;124;p18"/>
          <p:cNvSpPr txBox="1"/>
          <p:nvPr>
            <p:ph hasCustomPrompt="1" idx="5" type="title"/>
          </p:nvPr>
        </p:nvSpPr>
        <p:spPr>
          <a:xfrm>
            <a:off x="5948295" y="1706300"/>
            <a:ext cx="6987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5" name="Google Shape;125;p18"/>
          <p:cNvSpPr txBox="1"/>
          <p:nvPr>
            <p:ph idx="6" type="title"/>
          </p:nvPr>
        </p:nvSpPr>
        <p:spPr>
          <a:xfrm>
            <a:off x="341850" y="654800"/>
            <a:ext cx="8249700" cy="6027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pic>
        <p:nvPicPr>
          <p:cNvPr id="126" name="Google Shape;126;p18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1_1_1_1_1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9" title="Sin título-7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9"/>
          <p:cNvSpPr txBox="1"/>
          <p:nvPr>
            <p:ph idx="1" type="subTitle"/>
          </p:nvPr>
        </p:nvSpPr>
        <p:spPr>
          <a:xfrm>
            <a:off x="330950" y="1987918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19"/>
          <p:cNvSpPr txBox="1"/>
          <p:nvPr>
            <p:ph idx="2" type="subTitle"/>
          </p:nvPr>
        </p:nvSpPr>
        <p:spPr>
          <a:xfrm>
            <a:off x="3225884" y="1987918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9"/>
          <p:cNvSpPr txBox="1"/>
          <p:nvPr>
            <p:ph idx="3" type="subTitle"/>
          </p:nvPr>
        </p:nvSpPr>
        <p:spPr>
          <a:xfrm>
            <a:off x="330950" y="3392225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19"/>
          <p:cNvSpPr txBox="1"/>
          <p:nvPr>
            <p:ph idx="4" type="subTitle"/>
          </p:nvPr>
        </p:nvSpPr>
        <p:spPr>
          <a:xfrm>
            <a:off x="3225884" y="3392225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9"/>
          <p:cNvSpPr txBox="1"/>
          <p:nvPr>
            <p:ph idx="5" type="subTitle"/>
          </p:nvPr>
        </p:nvSpPr>
        <p:spPr>
          <a:xfrm>
            <a:off x="6120825" y="1987918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19"/>
          <p:cNvSpPr txBox="1"/>
          <p:nvPr>
            <p:ph idx="6" type="subTitle"/>
          </p:nvPr>
        </p:nvSpPr>
        <p:spPr>
          <a:xfrm>
            <a:off x="6120825" y="3392225"/>
            <a:ext cx="2579400" cy="6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 txBox="1"/>
          <p:nvPr>
            <p:ph type="title"/>
          </p:nvPr>
        </p:nvSpPr>
        <p:spPr>
          <a:xfrm>
            <a:off x="341850" y="654800"/>
            <a:ext cx="7704000" cy="6024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36" name="Google Shape;136;p19"/>
          <p:cNvSpPr txBox="1"/>
          <p:nvPr>
            <p:ph hasCustomPrompt="1" idx="7" type="title"/>
          </p:nvPr>
        </p:nvSpPr>
        <p:spPr>
          <a:xfrm>
            <a:off x="6132612" y="3071476"/>
            <a:ext cx="25746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7" name="Google Shape;137;p19"/>
          <p:cNvSpPr txBox="1"/>
          <p:nvPr>
            <p:ph hasCustomPrompt="1" idx="8" type="title"/>
          </p:nvPr>
        </p:nvSpPr>
        <p:spPr>
          <a:xfrm>
            <a:off x="6132612" y="1677125"/>
            <a:ext cx="25746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8" name="Google Shape;138;p19"/>
          <p:cNvSpPr txBox="1"/>
          <p:nvPr>
            <p:ph hasCustomPrompt="1" idx="9" type="title"/>
          </p:nvPr>
        </p:nvSpPr>
        <p:spPr>
          <a:xfrm>
            <a:off x="3239948" y="1677425"/>
            <a:ext cx="2574600" cy="31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39" name="Google Shape;139;p19"/>
          <p:cNvSpPr txBox="1"/>
          <p:nvPr>
            <p:ph hasCustomPrompt="1" idx="13" type="title"/>
          </p:nvPr>
        </p:nvSpPr>
        <p:spPr>
          <a:xfrm>
            <a:off x="3237714" y="3071476"/>
            <a:ext cx="25794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0" name="Google Shape;140;p19"/>
          <p:cNvSpPr txBox="1"/>
          <p:nvPr>
            <p:ph hasCustomPrompt="1" idx="14" type="title"/>
          </p:nvPr>
        </p:nvSpPr>
        <p:spPr>
          <a:xfrm>
            <a:off x="342736" y="1677125"/>
            <a:ext cx="2579400" cy="3108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41" name="Google Shape;141;p19"/>
          <p:cNvSpPr txBox="1"/>
          <p:nvPr>
            <p:ph hasCustomPrompt="1" idx="15" type="title"/>
          </p:nvPr>
        </p:nvSpPr>
        <p:spPr>
          <a:xfrm>
            <a:off x="342736" y="3071476"/>
            <a:ext cx="25794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pic>
        <p:nvPicPr>
          <p:cNvPr id="142" name="Google Shape;142;p19" title="Sin título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LANK_1_1_1_1_1_1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20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45" name="Google Shape;145;p20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" name="Google Shape;146;p20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7" name="Google Shape;147;p20"/>
          <p:cNvSpPr txBox="1"/>
          <p:nvPr>
            <p:ph hasCustomPrompt="1" type="title"/>
          </p:nvPr>
        </p:nvSpPr>
        <p:spPr>
          <a:xfrm>
            <a:off x="792825" y="974863"/>
            <a:ext cx="3876600" cy="75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48" name="Google Shape;148;p20"/>
          <p:cNvSpPr txBox="1"/>
          <p:nvPr>
            <p:ph idx="1" type="subTitle"/>
          </p:nvPr>
        </p:nvSpPr>
        <p:spPr>
          <a:xfrm>
            <a:off x="792825" y="1629188"/>
            <a:ext cx="3876600" cy="4482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0"/>
          <p:cNvSpPr txBox="1"/>
          <p:nvPr>
            <p:ph hasCustomPrompt="1" idx="2" type="title"/>
          </p:nvPr>
        </p:nvSpPr>
        <p:spPr>
          <a:xfrm>
            <a:off x="4298725" y="2743425"/>
            <a:ext cx="3929100" cy="75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45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50" name="Google Shape;150;p20"/>
          <p:cNvSpPr txBox="1"/>
          <p:nvPr>
            <p:ph idx="3" type="subTitle"/>
          </p:nvPr>
        </p:nvSpPr>
        <p:spPr>
          <a:xfrm>
            <a:off x="4298725" y="3498224"/>
            <a:ext cx="3929100" cy="4482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oogle Shape;152;p21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53" name="Google Shape;153;p21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4" name="Google Shape;154;p21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5" name="Google Shape;155;p21"/>
          <p:cNvSpPr txBox="1"/>
          <p:nvPr>
            <p:ph type="title"/>
          </p:nvPr>
        </p:nvSpPr>
        <p:spPr>
          <a:xfrm>
            <a:off x="669775" y="1143000"/>
            <a:ext cx="3852300" cy="56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0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sp>
        <p:nvSpPr>
          <p:cNvPr id="156" name="Google Shape;156;p21"/>
          <p:cNvSpPr txBox="1"/>
          <p:nvPr>
            <p:ph idx="1" type="subTitle"/>
          </p:nvPr>
        </p:nvSpPr>
        <p:spPr>
          <a:xfrm>
            <a:off x="669775" y="1850750"/>
            <a:ext cx="3683400" cy="97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7" name="Google Shape;157;p21" title="Sin título-9.png"/>
          <p:cNvPicPr preferRelativeResize="0"/>
          <p:nvPr/>
        </p:nvPicPr>
        <p:blipFill rotWithShape="1">
          <a:blip r:embed="rId4">
            <a:alphaModFix/>
          </a:blip>
          <a:srcRect b="47107" l="19763" r="19447" t="14676"/>
          <a:stretch/>
        </p:blipFill>
        <p:spPr>
          <a:xfrm>
            <a:off x="4549250" y="1778300"/>
            <a:ext cx="3953100" cy="2485174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1"/>
          <p:cNvSpPr txBox="1"/>
          <p:nvPr/>
        </p:nvSpPr>
        <p:spPr>
          <a:xfrm>
            <a:off x="4865450" y="2464525"/>
            <a:ext cx="3320700" cy="5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This presentation template was created by </a:t>
            </a:r>
            <a:r>
              <a:rPr b="1" lang="en" sz="1000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, and includes icons, infographics &amp; images by </a:t>
            </a:r>
            <a:r>
              <a:rPr b="1" lang="en" sz="1000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endParaRPr b="1" sz="1000" u="sng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_1_1_1_1_1_1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2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61" name="Google Shape;161;p22" title="Sin título-7.png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22" title="Sin título-2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_1_1_1_1_1_1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_2_1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26"/>
          <p:cNvSpPr txBox="1"/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CUSTOM_2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7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3" name="Google Shape;173;p27"/>
          <p:cNvSpPr txBox="1"/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200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74" name="Google Shape;174;p27"/>
          <p:cNvSpPr txBox="1"/>
          <p:nvPr>
            <p:ph idx="2" type="title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200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indent="-3175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indent="-3175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indent="-3175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indent="-3175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indent="-3175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indent="-3175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indent="-3175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indent="-3175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4"/>
          <p:cNvSpPr txBox="1"/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b="1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66" name="Google Shape;166;p24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pic_s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pic_s3.jpg"/><Relationship Id="rId4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shot1.jpg"/><Relationship Id="rId5" Type="http://schemas.openxmlformats.org/officeDocument/2006/relationships/image" Target="../media/shot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pic_s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/>
          <p:cNvSpPr txBox="1"/>
          <p:nvPr>
            <p:ph idx="6" type="title"/>
          </p:nvPr>
        </p:nvSpPr>
        <p:spPr>
          <a:xfrm>
            <a:off x="338328" y="713232"/>
            <a:ext cx="585216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>
                <a:solidFill>
                  <a:schemeClr val="dk1"/>
                </a:solidFill>
              </a:rPr>
              <a:t>Healthier water starts with better observations.</a:t>
            </a:r>
          </a:p>
        </p:txBody>
      </p:sp>
      <p:sp>
        <p:nvSpPr>
          <p:cNvPr id="286" name="Google Shape;286;p35"/>
          <p:cNvSpPr txBox="1"/>
          <p:nvPr>
            <p:ph idx="1" type="subTitle"/>
          </p:nvPr>
        </p:nvSpPr>
        <p:spPr>
          <a:xfrm>
            <a:off x="3145041" y="3310128"/>
            <a:ext cx="2599200" cy="4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400">
                <a:solidFill>
                  <a:schemeClr val="dk1"/>
                </a:solidFill>
              </a:rPr>
              <a:t>human illnesses</a:t>
            </a:r>
          </a:p>
        </p:txBody>
      </p:sp>
      <p:sp>
        <p:nvSpPr>
          <p:cNvPr id="287" name="Google Shape;287;p35"/>
          <p:cNvSpPr txBox="1"/>
          <p:nvPr>
            <p:ph idx="2" type="subTitle"/>
          </p:nvPr>
        </p:nvSpPr>
        <p:spPr>
          <a:xfrm>
            <a:off x="341850" y="3310128"/>
            <a:ext cx="2599200" cy="4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400">
                <a:solidFill>
                  <a:schemeClr val="dk1"/>
                </a:solidFill>
              </a:rPr>
              <a:t>bloom events</a:t>
            </a:r>
          </a:p>
        </p:txBody>
      </p:sp>
      <p:sp>
        <p:nvSpPr>
          <p:cNvPr id="288" name="Google Shape;288;p35"/>
          <p:cNvSpPr txBox="1"/>
          <p:nvPr>
            <p:ph idx="3" type="subTitle"/>
          </p:nvPr>
        </p:nvSpPr>
        <p:spPr>
          <a:xfrm>
            <a:off x="5948257" y="3310128"/>
            <a:ext cx="2599200" cy="4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400">
                <a:solidFill>
                  <a:schemeClr val="dk1"/>
                </a:solidFill>
              </a:rPr>
              <a:t>animal illnesses</a:t>
            </a:r>
          </a:p>
        </p:txBody>
      </p:sp>
      <p:sp>
        <p:nvSpPr>
          <p:cNvPr id="289" name="Google Shape;289;p35"/>
          <p:cNvSpPr txBox="1"/>
          <p:nvPr>
            <p:ph type="title"/>
          </p:nvPr>
        </p:nvSpPr>
        <p:spPr>
          <a:xfrm>
            <a:off x="3145041" y="2487168"/>
            <a:ext cx="2599200" cy="8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5400">
                <a:solidFill>
                  <a:schemeClr val="dk1"/>
                </a:solidFill>
              </a:rPr>
              <a:t>389</a:t>
            </a:r>
          </a:p>
        </p:txBody>
      </p:sp>
      <p:sp>
        <p:nvSpPr>
          <p:cNvPr id="290" name="Google Shape;290;p35"/>
          <p:cNvSpPr txBox="1"/>
          <p:nvPr>
            <p:ph idx="4" type="title"/>
          </p:nvPr>
        </p:nvSpPr>
        <p:spPr>
          <a:xfrm>
            <a:off x="341850" y="2487168"/>
            <a:ext cx="2599200" cy="8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5400">
                <a:solidFill>
                  <a:schemeClr val="dk1"/>
                </a:solidFill>
              </a:rPr>
              <a:t>421</a:t>
            </a:r>
          </a:p>
        </p:txBody>
      </p:sp>
      <p:sp>
        <p:nvSpPr>
          <p:cNvPr id="291" name="Google Shape;291;p35"/>
          <p:cNvSpPr txBox="1"/>
          <p:nvPr>
            <p:ph idx="5" type="title"/>
          </p:nvPr>
        </p:nvSpPr>
        <p:spPr>
          <a:xfrm>
            <a:off x="5948257" y="2487168"/>
            <a:ext cx="2599200" cy="8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5400">
                <a:solidFill>
                  <a:schemeClr val="dk1"/>
                </a:solidFill>
              </a:rPr>
              <a:t>413+</a:t>
            </a:r>
          </a:p>
        </p:txBody>
      </p:sp>
      <p:sp>
        <p:nvSpPr>
          <p:cNvPr id="901" name="Text"/>
          <p:cNvSpPr txBox="1"/>
          <p:nvPr/>
        </p:nvSpPr>
        <p:spPr>
          <a:xfrm>
            <a:off x="338328" y="3813048"/>
            <a:ext cx="5486400" cy="450000"/>
          </a:xfrm>
          <a:prstGeom prst="rect">
            <a:avLst/>
          </a:prstGeom>
          <a:noFill/>
        </p:spPr>
        <p:txBody>
          <a:bodyPr wrap="square" lIns="91425" tIns="91425" rIns="91425" bIns="91425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4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18 U.S. states, 2016–2018 — not Lake Mead-specific</a:t>
            </a:r>
          </a:p>
        </p:txBody>
      </p:sp>
      <p:sp>
        <p:nvSpPr>
          <p:cNvPr id="902" name="Text"/>
          <p:cNvSpPr txBox="1"/>
          <p:nvPr/>
        </p:nvSpPr>
        <p:spPr>
          <a:xfrm>
            <a:off x="338328" y="4133088"/>
            <a:ext cx="5800000" cy="400000"/>
          </a:xfrm>
          <a:prstGeom prst="rect">
            <a:avLst/>
          </a:prstGeom>
          <a:noFill/>
        </p:spPr>
        <p:txBody>
          <a:bodyPr wrap="square" lIns="91425" tIns="91425" rIns="91425" bIns="91425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Source: CDC, MMWR 69(50), December 18, 2020</a:t>
            </a:r>
          </a:p>
        </p:txBody>
      </p:sp>
      <p:sp>
        <p:nvSpPr>
          <p:cNvPr id="903" name="Text"/>
          <p:cNvSpPr txBox="1"/>
          <p:nvPr/>
        </p:nvSpPr>
        <p:spPr>
          <a:xfrm>
            <a:off x="338328" y="2011680"/>
            <a:ext cx="5852160" cy="402336"/>
          </a:xfrm>
          <a:prstGeom prst="rect">
            <a:avLst/>
          </a:prstGeom>
          <a:noFill/>
        </p:spPr>
        <p:txBody>
          <a:bodyPr wrap="square" lIns="91425" tIns="91425" rIns="91425" bIns="91425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6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Environment · People · Animals</a:t>
            </a:r>
          </a:p>
        </p:txBody>
      </p:sp>
      <p:pic>
        <p:nvPicPr>
          <p:cNvPr id="910" name="Window bar" descr=""/>
          <p:cNvPicPr>
            <a:picLocks noChangeAspect="1"/>
          </p:cNvPicPr>
          <p:nvPr/>
        </p:nvPicPr>
        <p:blipFill>
          <a:blip r:embed="rId3"/>
          <a:srcRect l="66804"/>
          <a:stretch/>
        </p:blipFill>
        <p:spPr>
          <a:xfrm>
            <a:off x="6492240" y="914400"/>
            <a:ext cx="2103120" cy="225765"/>
          </a:xfrm>
          <a:prstGeom prst="rect">
            <a:avLst/>
          </a:prstGeom>
        </p:spPr>
      </p:pic>
      <p:pic>
        <p:nvPicPr>
          <p:cNvPr id="911" name="Picture" descr="Turquoise lake water under a clear sky, a stand-in for the open water the bloom figures describ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841" y="1140165"/>
            <a:ext cx="2084832" cy="1105784"/>
          </a:xfrm>
          <a:prstGeom prst="rect">
            <a:avLst/>
          </a:prstGeom>
          <a:ln w="9525">
            <a:solidFill>
              <a:srgbClr val="707070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 descr="Verdant sampling priority list ranking Callville Bay first, with its very high risk score and recommended sampling target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250000" y="1121085"/>
            <a:ext cx="2500000" cy="1842105"/>
          </a:xfrm>
          <a:prstGeom prst="rect">
            <a:avLst/>
          </a:prstGeom>
        </p:spPr>
      </p:pic>
      <p:sp>
        <p:nvSpPr>
          <p:cNvPr id="260" name="Google Shape;260;p32"/>
          <p:cNvSpPr txBox="1"/>
          <p:nvPr>
            <p:ph idx="1" type="subTitle"/>
          </p:nvPr>
        </p:nvSpPr>
        <p:spPr>
          <a:xfrm>
            <a:off x="2313432" y="3739896"/>
            <a:ext cx="6290000" cy="83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Citizen observation → Ranger review → Sampling priority → Reporter feedback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Track 6: Resilience Informatics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Lake Mead: pilot workflow · Coimbra: OneAquaHealth application</a:t>
            </a:r>
          </a:p>
        </p:txBody>
      </p:sp>
      <p:sp>
        <p:nvSpPr>
          <p:cNvPr id="261" name="Google Shape;261;p32"/>
          <p:cNvSpPr txBox="1"/>
          <p:nvPr>
            <p:ph type="title"/>
          </p:nvPr>
        </p:nvSpPr>
        <p:spPr>
          <a:xfrm>
            <a:off x="1000000" y="1532500"/>
            <a:ext cx="4350000" cy="152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2400">
                <a:solidFill>
                  <a:schemeClr val="dk1"/>
                </a:solidFill>
              </a:rPr>
              <a:t>Turn an observation into useful follow-up.</a:t>
            </a:r>
          </a:p>
        </p:txBody>
      </p:sp>
      <p:grpSp>
        <p:nvGrpSpPr>
          <p:cNvPr id="263" name="Google Shape;263;p32"/>
          <p:cNvGrpSpPr/>
          <p:nvPr/>
        </p:nvGrpSpPr>
        <p:grpSpPr>
          <a:xfrm>
            <a:off x="6250000" y="855585"/>
            <a:ext cx="2500000" cy="265500"/>
            <a:chOff x="6250000" y="855585"/>
            <a:chExt cx="2500000" cy="265500"/>
          </a:xfrm>
        </p:grpSpPr>
        <p:pic>
          <p:nvPicPr>
            <p:cNvPr id="264" name="Google Shape;264;p32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6436" r="0" t="0"/>
            <a:stretch/>
          </p:blipFill>
          <p:spPr>
            <a:xfrm>
              <a:off x="6250000" y="855585"/>
              <a:ext cx="25000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32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6436" r="0" t="0"/>
            <a:stretch/>
          </p:blipFill>
          <p:spPr>
            <a:xfrm>
              <a:off x="6250000" y="855585"/>
              <a:ext cx="25000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6"/>
          <p:cNvSpPr txBox="1"/>
          <p:nvPr>
            <p:ph type="title"/>
          </p:nvPr>
        </p:nvSpPr>
        <p:spPr>
          <a:xfrm>
            <a:off x="341850" y="654800"/>
            <a:ext cx="8700000" cy="95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2800">
                <a:solidFill>
                  <a:schemeClr val="dk1"/>
                </a:solidFill>
              </a:rPr>
              <a:t>From a working demonstration to field use</a:t>
            </a:r>
          </a:p>
        </p:txBody>
      </p:sp>
      <p:sp>
        <p:nvSpPr>
          <p:cNvPr id="298" name="Google Shape;298;p36"/>
          <p:cNvSpPr txBox="1"/>
          <p:nvPr>
            <p:ph idx="1" type="subTitle"/>
          </p:nvPr>
        </p:nvSpPr>
        <p:spPr>
          <a:xfrm>
            <a:off x="429768" y="1700000"/>
            <a:ext cx="3931920" cy="11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Guided reporting and outcome history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Explainable scoring and regional configuration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Demonstrated ranger-review workflow</a:t>
            </a:r>
          </a:p>
        </p:txBody>
      </p:sp>
      <p:sp>
        <p:nvSpPr>
          <p:cNvPr id="299" name="Google Shape;299;p36"/>
          <p:cNvSpPr txBox="1"/>
          <p:nvPr>
            <p:ph idx="2" type="subTitle"/>
          </p:nvPr>
        </p:nvSpPr>
        <p:spPr>
          <a:xfrm>
            <a:off x="4315968" y="1700000"/>
            <a:ext cx="3657600" cy="11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Test reporting with citizens and rangers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Compare scores with field measurements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" sz="1200">
                <a:solidFill>
                  <a:schemeClr val="dk1"/>
                </a:solidFill>
              </a:rPr>
              <a:t>Shared backend, ranger authentication, duplicate controls</a:t>
            </a:r>
          </a:p>
        </p:txBody>
      </p:sp>
      <p:sp>
        <p:nvSpPr>
          <p:cNvPr id="305" name="Google Shape;305;p36"/>
          <p:cNvSpPr txBox="1"/>
          <p:nvPr>
            <p:ph idx="9" type="title"/>
          </p:nvPr>
        </p:nvSpPr>
        <p:spPr>
          <a:xfrm>
            <a:off x="4315968" y="1250000"/>
            <a:ext cx="4599432" cy="4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800">
                <a:solidFill>
                  <a:schemeClr val="dk1"/>
                </a:solidFill>
              </a:rPr>
              <a:t>Next validation and deployment steps</a:t>
            </a:r>
          </a:p>
        </p:txBody>
      </p:sp>
      <p:sp>
        <p:nvSpPr>
          <p:cNvPr id="307" name="Google Shape;307;p36"/>
          <p:cNvSpPr txBox="1"/>
          <p:nvPr>
            <p:ph idx="14" type="title"/>
          </p:nvPr>
        </p:nvSpPr>
        <p:spPr>
          <a:xfrm>
            <a:off x="433000" y="1250000"/>
            <a:ext cx="3700000" cy="45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800">
                <a:solidFill>
                  <a:schemeClr val="dk1"/>
                </a:solidFill>
              </a:rPr>
              <a:t>Working now</a:t>
            </a:r>
          </a:p>
        </p:txBody>
      </p:sp>
      <p:pic>
        <p:nvPicPr>
          <p:cNvPr id="901" name="Window bar" descr=""/>
          <p:cNvPicPr>
            <a:picLocks noChangeAspect="1"/>
          </p:cNvPicPr>
          <p:nvPr/>
        </p:nvPicPr>
        <p:blipFill>
          <a:blip r:embed="rId3"/>
          <a:srcRect l="64119"/>
          <a:stretch/>
        </p:blipFill>
        <p:spPr>
          <a:xfrm>
            <a:off x="433000" y="2807208"/>
            <a:ext cx="2138080" cy="212400"/>
          </a:xfrm>
          <a:prstGeom prst="rect">
            <a:avLst/>
          </a:prstGeom>
        </p:spPr>
      </p:pic>
      <p:pic>
        <p:nvPicPr>
          <p:cNvPr id="902" name="Screenshot" descr="Report for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00" y="3017520"/>
            <a:ext cx="2120000" cy="1040000"/>
          </a:xfrm>
          <a:prstGeom prst="rect">
            <a:avLst/>
          </a:prstGeom>
          <a:ln w="9525">
            <a:solidFill>
              <a:srgbClr val="707070"/>
            </a:solidFill>
          </a:ln>
        </p:spPr>
      </p:pic>
      <p:pic>
        <p:nvPicPr>
          <p:cNvPr id="903" name="Window bar" descr=""/>
          <p:cNvPicPr>
            <a:picLocks noChangeAspect="1"/>
          </p:cNvPicPr>
          <p:nvPr/>
        </p:nvPicPr>
        <p:blipFill>
          <a:blip r:embed="rId3"/>
          <a:srcRect l="64119"/>
          <a:stretch/>
        </p:blipFill>
        <p:spPr>
          <a:xfrm>
            <a:off x="4315968" y="2807208"/>
            <a:ext cx="2138080" cy="212400"/>
          </a:xfrm>
          <a:prstGeom prst="rect">
            <a:avLst/>
          </a:prstGeom>
        </p:spPr>
      </p:pic>
      <p:pic>
        <p:nvPicPr>
          <p:cNvPr id="904" name="Screenshot" descr="Sampling priority lis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4256" y="3017520"/>
            <a:ext cx="2120000" cy="1040000"/>
          </a:xfrm>
          <a:prstGeom prst="rect">
            <a:avLst/>
          </a:prstGeom>
          <a:ln w="9525">
            <a:solidFill>
              <a:srgbClr val="707070"/>
            </a:solidFill>
          </a:ln>
        </p:spPr>
      </p:pic>
      <p:sp>
        <p:nvSpPr>
          <p:cNvPr id="907" name="Panel"/>
          <p:cNvSpPr/>
          <p:nvPr/>
        </p:nvSpPr>
        <p:spPr>
          <a:xfrm>
            <a:off x="433000" y="4300000"/>
            <a:ext cx="8300000" cy="280000"/>
          </a:xfrm>
          <a:prstGeom prst="rect">
            <a:avLst/>
          </a:prstGeom>
          <a:solidFill>
            <a:srgbClr val="EFEFEF"/>
          </a:solidFill>
          <a:ln w="12700">
            <a:solidFill>
              <a:srgbClr val="707070"/>
            </a:solidFill>
          </a:ln>
        </p:spPr>
        <p:txBody>
          <a:bodyPr wrap="square" lIns="91425" tIns="45720" rIns="91425" bIns="4572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Intended impact: more useful reports · clearer sampling priorities · visible follow-up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41"/>
          <p:cNvSpPr txBox="1"/>
          <p:nvPr>
            <p:ph type="title"/>
          </p:nvPr>
        </p:nvSpPr>
        <p:spPr>
          <a:xfrm>
            <a:off x="669775" y="1143000"/>
            <a:ext cx="3852300" cy="56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>
                <a:solidFill>
                  <a:schemeClr val="dk1"/>
                </a:solidFill>
              </a:rPr>
              <a:t>Verdant</a:t>
            </a:r>
          </a:p>
        </p:txBody>
      </p:sp>
      <p:sp>
        <p:nvSpPr>
          <p:cNvPr id="373" name="Google Shape;373;p41"/>
          <p:cNvSpPr txBox="1"/>
          <p:nvPr>
            <p:ph idx="1" type="subTitle"/>
          </p:nvPr>
        </p:nvSpPr>
        <p:spPr>
          <a:xfrm>
            <a:off x="669775" y="1850750"/>
            <a:ext cx="3700000" cy="13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600" b="1">
                <a:solidFill>
                  <a:schemeClr val="dk1"/>
                </a:solidFill>
              </a:rPr>
              <a:t>Better observations. Clearer priorities. Visible follow-up.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" sz="1400">
                <a:solidFill>
                  <a:schemeClr val="dk1"/>
                </a:solidFill>
              </a:rPr>
              <a:t>verdant.albert14059.workers.dev</a:t>
            </a:r>
          </a:p>
        </p:txBody>
      </p:sp>
      <p:sp>
        <p:nvSpPr>
          <p:cNvPr id="374" name="Google Shape;374;p41"/>
          <p:cNvSpPr txBox="1"/>
          <p:nvPr/>
        </p:nvSpPr>
        <p:spPr>
          <a:xfrm>
            <a:off x="4941648" y="3180650"/>
            <a:ext cx="3206400" cy="26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Please keep this slide for attribution</a:t>
            </a:r>
            <a:endParaRPr sz="10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390" name="Google Shape;390;p41"/>
          <p:cNvSpPr txBox="1"/>
          <p:nvPr/>
        </p:nvSpPr>
        <p:spPr>
          <a:xfrm>
            <a:off x="341850" y="205291"/>
            <a:ext cx="44754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" sz="16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Verdant</a:t>
            </a:r>
          </a:p>
        </p:txBody>
      </p:sp>
      <p:pic>
        <p:nvPicPr>
          <p:cNvPr id="910" name="Window bar" descr=""/>
          <p:cNvPicPr>
            <a:picLocks noChangeAspect="1"/>
          </p:cNvPicPr>
          <p:nvPr/>
        </p:nvPicPr>
        <p:blipFill>
          <a:blip r:embed="rId3"/>
          <a:srcRect l="52707"/>
          <a:stretch/>
        </p:blipFill>
        <p:spPr>
          <a:xfrm>
            <a:off x="749900" y="3000000"/>
            <a:ext cx="3522600" cy="265500"/>
          </a:xfrm>
          <a:prstGeom prst="rect">
            <a:avLst/>
          </a:prstGeom>
        </p:spPr>
      </p:pic>
      <p:pic>
        <p:nvPicPr>
          <p:cNvPr id="911" name="Picture" descr="Green rolling hills under a blue sky with cloud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200" y="3265500"/>
            <a:ext cx="3500000" cy="1234000"/>
          </a:xfrm>
          <a:prstGeom prst="rect">
            <a:avLst/>
          </a:prstGeom>
          <a:ln w="9525">
            <a:solidFill>
              <a:srgbClr val="707070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y Presentation Template">
  <a:themeElements>
    <a:clrScheme name="Simple Light">
      <a:dk1>
        <a:srgbClr val="191919"/>
      </a:dk1>
      <a:lt1>
        <a:srgbClr val="EFEFEF"/>
      </a:lt1>
      <a:dk2>
        <a:srgbClr val="707070"/>
      </a:dk2>
      <a:lt2>
        <a:srgbClr val="C1C1B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Verdant</dc:title>
  <cp:lastModifiedBy>Verdant</cp:lastModifiedBy>
  <cp:revision>1</cp:revision>
  <dcterms:modified xsi:type="dcterms:W3CDTF">2026-10-05T00:03:40Z</dcterms:modified>
  <dc:creator>Verdant</dc:creator>
  <dc:subject>See the bloom before it becomes a warning</dc:subject>
  <dc:description/>
  <cp:keywords/>
</cp:coreProperties>
</file>